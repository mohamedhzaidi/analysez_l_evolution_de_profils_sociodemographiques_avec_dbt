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57" r:id="rId4"/>
    <p:sldId id="258" r:id="rId5"/>
    <p:sldId id="271" r:id="rId6"/>
    <p:sldId id="259" r:id="rId7"/>
    <p:sldId id="260" r:id="rId8"/>
    <p:sldId id="278" r:id="rId9"/>
    <p:sldId id="261" r:id="rId10"/>
    <p:sldId id="262" r:id="rId11"/>
    <p:sldId id="263" r:id="rId12"/>
    <p:sldId id="264" r:id="rId13"/>
    <p:sldId id="279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53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4A20-D689-F5AE-56E0-4ED1307C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B08C2-41D8-8881-B3B5-CDD3FCCEF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B7486-DE41-6C78-DF41-75C529C3E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467F1-09D5-4E22-19D5-C67A3725A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4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4456-01B8-ADE5-969F-395BC169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FAD5B-B56B-BC5C-EF72-0D1C96E24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FAAF6-1B74-2C36-F966-AAFF08D50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8F5D7-9011-2F0C-9696-FC3B2BF8F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2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5331-08F7-7E68-68DF-A6F84E64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EBB5C-BB61-34BB-CA82-E6706C525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EB4F0-F142-4C80-4D62-71519C3B8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79CF-14AF-0283-9D28-8192E0536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09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40FE-B2AC-A36B-767F-7770A12F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7199A-2712-25F1-2853-4F0FA3E3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EDA5C-E6F6-1063-F90E-D3381DA18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C583-49D1-19CE-15D4-142F5436B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36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669E-1EEC-E463-0CB8-F4D96B67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56801-E5F8-6898-F045-781AD1F27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4E3AE-F257-87C5-2B8D-9AC46E49B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D5523-C74F-1EC9-6EA1-D0423F78F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44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7B14C-778F-6FF4-7F90-F13AE23F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3FAB2-E74B-95B2-FD72-5E2B53C2D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B8E9F-8A81-C8E8-547E-577A0BEDF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2EE10-6130-6B5B-F5E7-37E26D69D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418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A5F30-8CC7-25DA-ABC3-96D243E3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3369C-1520-E07E-FDFF-121666101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B0235-CC50-F494-5B47-F3E27ACA4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0FDDE-26F3-8ADF-2B41-9AA2CB418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46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3FC3E-ED7E-8C42-467D-D3423E67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A0C83-AE80-2936-70BA-5DE0EC447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55B82-4959-6097-3DBB-F18162E2B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37750-009D-B95E-0108-F40326858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92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32C3-79C3-8C6A-84CE-4E1E15B4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ED8AC-627E-E6D4-58C6-BCE0A7B50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C5020-8C63-E0A4-71AD-7A0ABF723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72EF4-0807-AB98-48B6-6169817CB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864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E31B-7D59-303C-91DD-F3C68EB4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02263-5300-097B-E601-92DBA2BFB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8736-070A-7A35-E0DC-BE606F18F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D9497-34F1-26E4-BD8A-DFF568A6C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560320"/>
            <a:ext cx="4114800" cy="41148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1819656"/>
            <a:ext cx="2926080" cy="29260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864" cy="2926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28016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</a:t>
            </a:r>
            <a:r>
              <a:rPr lang="en-US" sz="2200" dirty="0" err="1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étudiants</a:t>
            </a:r>
            <a:r>
              <a:rPr lang="en-US" sz="22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 </a:t>
            </a:r>
            <a:r>
              <a:rPr lang="en-US" sz="2200" dirty="0" err="1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453600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2022 – 2025   •   Snowflake &amp; dbt   •   Comparaison INSEE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43468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Mohamed  	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DA74C-8E92-0781-4179-7028CA1D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6DF3CAF-5407-F202-1AA1-55E45E5AA5FF}"/>
              </a:ext>
            </a:extLst>
          </p:cNvPr>
          <p:cNvSpPr/>
          <p:nvPr/>
        </p:nvSpPr>
        <p:spPr>
          <a:xfrm>
            <a:off x="0" y="-2286"/>
            <a:ext cx="502920" cy="5148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C5379D07-34AC-10BA-F6C9-3CEBE1A0B94D}"/>
              </a:ext>
            </a:extLst>
          </p:cNvPr>
          <p:cNvSpPr/>
          <p:nvPr/>
        </p:nvSpPr>
        <p:spPr>
          <a:xfrm>
            <a:off x="6858000" y="-2286"/>
            <a:ext cx="2286000" cy="51435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61071607-9687-D1D0-0D22-D87CE5E49D9C}"/>
              </a:ext>
            </a:extLst>
          </p:cNvPr>
          <p:cNvSpPr/>
          <p:nvPr/>
        </p:nvSpPr>
        <p:spPr>
          <a:xfrm>
            <a:off x="685800" y="1369314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0" b="1" dirty="0">
                <a:solidFill>
                  <a:srgbClr val="25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01.</a:t>
            </a:r>
            <a:endParaRPr lang="en-US" sz="110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61E7D446-0245-3034-02AA-CFD6D9E9F507}"/>
              </a:ext>
            </a:extLst>
          </p:cNvPr>
          <p:cNvSpPr/>
          <p:nvPr/>
        </p:nvSpPr>
        <p:spPr>
          <a:xfrm>
            <a:off x="685800" y="310667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</a:rPr>
              <a:t>Méthodologie</a:t>
            </a:r>
            <a:endParaRPr lang="en-US" sz="28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F005F588-3717-CD04-6C11-427FA1D749FD}"/>
              </a:ext>
            </a:extLst>
          </p:cNvPr>
          <p:cNvSpPr/>
          <p:nvPr/>
        </p:nvSpPr>
        <p:spPr>
          <a:xfrm>
            <a:off x="685800" y="370103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1F2CA3A1-CAAA-5A91-1C2E-22EAFBF8FF2A}"/>
              </a:ext>
            </a:extLst>
          </p:cNvPr>
          <p:cNvSpPr/>
          <p:nvPr/>
        </p:nvSpPr>
        <p:spPr>
          <a:xfrm>
            <a:off x="685800" y="3015234"/>
            <a:ext cx="32004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B3785953-372B-19C4-1268-67AAD20426FD}"/>
              </a:ext>
            </a:extLst>
          </p:cNvPr>
          <p:cNvSpPr/>
          <p:nvPr/>
        </p:nvSpPr>
        <p:spPr>
          <a:xfrm>
            <a:off x="6949440" y="1643634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66A1CAB5-0A05-84E3-3E73-71299C392E4B}"/>
              </a:ext>
            </a:extLst>
          </p:cNvPr>
          <p:cNvSpPr/>
          <p:nvPr/>
        </p:nvSpPr>
        <p:spPr>
          <a:xfrm>
            <a:off x="0" y="4953762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02BD2EA7-C36F-2982-D6E4-7F8D4E3136CE}"/>
              </a:ext>
            </a:extLst>
          </p:cNvPr>
          <p:cNvSpPr/>
          <p:nvPr/>
        </p:nvSpPr>
        <p:spPr>
          <a:xfrm>
            <a:off x="274320" y="4953762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Analyse sociodémographique 2022–2025  •  Mohamed — Data Analyst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4893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de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3657600"/>
          </a:xfrm>
          <a:prstGeom prst="rect">
            <a:avLst/>
          </a:prstGeom>
          <a:solidFill>
            <a:srgbClr val="252E3A"/>
          </a:solidFill>
          <a:ln/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internes OC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0652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1755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Étudiants </a:t>
            </a:r>
            <a:r>
              <a:rPr lang="en-US" sz="1200" dirty="0" err="1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filière</a:t>
            </a: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 (4010 </a:t>
            </a:r>
            <a:r>
              <a:rPr lang="en-US" sz="1200" dirty="0" err="1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étudiants</a:t>
            </a: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24140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Période : 2022 – 2025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2267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30723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: région, genre,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tranche d'âge, parcours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162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37307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: CSV pseudonymisé (RGPD)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160520" cy="3657600"/>
          </a:xfrm>
          <a:prstGeom prst="rect">
            <a:avLst/>
          </a:prstGeom>
          <a:solidFill>
            <a:srgbClr val="252E3A"/>
          </a:solidFill>
          <a:ln/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INSEE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90533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212080" y="1755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 active 20–60+ ans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478024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212080" y="24140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Découpages régionaux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France métropolitaine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22326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12080" y="30723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Années 2022 – 2025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881628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212080" y="37307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: data.insee.fr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Outils utilisés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880360"/>
            <a:ext cx="6400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577840" y="2880360"/>
            <a:ext cx="6400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Entrepôt de données cloud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Stockage et requêtage 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brutes + tables finales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 Cloud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Transformation des données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Modèles staging → marts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 tests qualité documentés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743200" cy="347472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 Charts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Visualisation intégrée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Graphiques directement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depuis les marts dbt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9DB10-E978-9DE5-3014-F088EB6C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32950E1-2ACE-D8F6-0613-AF5C6EBBE63D}"/>
              </a:ext>
            </a:extLst>
          </p:cNvPr>
          <p:cNvSpPr/>
          <p:nvPr/>
        </p:nvSpPr>
        <p:spPr>
          <a:xfrm>
            <a:off x="0" y="-2286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51938915-92A1-D9A8-3FBB-CE7B430AE6D0}"/>
              </a:ext>
            </a:extLst>
          </p:cNvPr>
          <p:cNvSpPr/>
          <p:nvPr/>
        </p:nvSpPr>
        <p:spPr>
          <a:xfrm>
            <a:off x="320040" y="8915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construction</a:t>
            </a:r>
            <a:endParaRPr lang="en-US" sz="2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278C720-B7C5-4B49-8BCC-1A02ED949274}"/>
              </a:ext>
            </a:extLst>
          </p:cNvPr>
          <p:cNvSpPr/>
          <p:nvPr/>
        </p:nvSpPr>
        <p:spPr>
          <a:xfrm>
            <a:off x="320040" y="65608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donnée brute à l'analyse — logique et enchaînement des étapes</a:t>
            </a:r>
            <a:endParaRPr lang="en-US" sz="10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43B0EB92-F68A-D102-3AA5-A3C4FB59A646}"/>
              </a:ext>
            </a:extLst>
          </p:cNvPr>
          <p:cNvSpPr/>
          <p:nvPr/>
        </p:nvSpPr>
        <p:spPr>
          <a:xfrm>
            <a:off x="228600" y="1094994"/>
            <a:ext cx="2011680" cy="356616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9D1D3131-FDCB-8ABC-A29C-8DF208E81216}"/>
              </a:ext>
            </a:extLst>
          </p:cNvPr>
          <p:cNvSpPr/>
          <p:nvPr/>
        </p:nvSpPr>
        <p:spPr>
          <a:xfrm>
            <a:off x="228600" y="1094994"/>
            <a:ext cx="201168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8044EB5-6DB9-DEBD-2E06-2B5A464D3612}"/>
              </a:ext>
            </a:extLst>
          </p:cNvPr>
          <p:cNvSpPr/>
          <p:nvPr/>
        </p:nvSpPr>
        <p:spPr>
          <a:xfrm>
            <a:off x="301752" y="118643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9AEF488-E032-06A4-8BD9-0EFB22DAFCC6}"/>
              </a:ext>
            </a:extLst>
          </p:cNvPr>
          <p:cNvSpPr/>
          <p:nvPr/>
        </p:nvSpPr>
        <p:spPr>
          <a:xfrm>
            <a:off x="777240" y="114071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des sources</a:t>
            </a:r>
            <a:endParaRPr lang="en-US" sz="13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7CC0F6BD-AF3B-4DA5-FFF1-4F677B22AFAA}"/>
              </a:ext>
            </a:extLst>
          </p:cNvPr>
          <p:cNvSpPr/>
          <p:nvPr/>
        </p:nvSpPr>
        <p:spPr>
          <a:xfrm>
            <a:off x="777240" y="147904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</a:t>
            </a:r>
            <a:endParaRPr lang="en-US" sz="9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4C55BE3-DE8D-64C2-2029-01D6D9EDA67F}"/>
              </a:ext>
            </a:extLst>
          </p:cNvPr>
          <p:cNvSpPr/>
          <p:nvPr/>
        </p:nvSpPr>
        <p:spPr>
          <a:xfrm>
            <a:off x="338328" y="1899666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Chargement des CSV dans Snowflake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Données OC (social)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Données INSEE pop 2022–2025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Données INSEE régions</a:t>
            </a:r>
            <a:endParaRPr lang="en-US" sz="11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FDC23F61-858E-E78A-2D75-40E5CAEFFC25}"/>
              </a:ext>
            </a:extLst>
          </p:cNvPr>
          <p:cNvSpPr/>
          <p:nvPr/>
        </p:nvSpPr>
        <p:spPr>
          <a:xfrm>
            <a:off x="2276856" y="2695194"/>
            <a:ext cx="128016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BBABCE88-781B-C17A-D05D-6861E7F2E04B}"/>
              </a:ext>
            </a:extLst>
          </p:cNvPr>
          <p:cNvSpPr/>
          <p:nvPr/>
        </p:nvSpPr>
        <p:spPr>
          <a:xfrm>
            <a:off x="2350008" y="2603754"/>
            <a:ext cx="9144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F21648E3-7D70-D4F5-0E3C-A5BB56A616B1}"/>
              </a:ext>
            </a:extLst>
          </p:cNvPr>
          <p:cNvSpPr/>
          <p:nvPr/>
        </p:nvSpPr>
        <p:spPr>
          <a:xfrm>
            <a:off x="2404872" y="1094994"/>
            <a:ext cx="2011680" cy="356616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74AD3BE6-257F-8CCD-1B5E-208B858D8F3F}"/>
              </a:ext>
            </a:extLst>
          </p:cNvPr>
          <p:cNvSpPr/>
          <p:nvPr/>
        </p:nvSpPr>
        <p:spPr>
          <a:xfrm>
            <a:off x="2404872" y="1094994"/>
            <a:ext cx="201168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56842B6-315D-F0A6-97C4-C4C610D71E74}"/>
              </a:ext>
            </a:extLst>
          </p:cNvPr>
          <p:cNvSpPr/>
          <p:nvPr/>
        </p:nvSpPr>
        <p:spPr>
          <a:xfrm>
            <a:off x="2478024" y="118643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0590827E-9BE3-0A33-438F-BCB31FD42B38}"/>
              </a:ext>
            </a:extLst>
          </p:cNvPr>
          <p:cNvSpPr/>
          <p:nvPr/>
        </p:nvSpPr>
        <p:spPr>
          <a:xfrm>
            <a:off x="2953512" y="114071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3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793E76F4-19BB-BC11-4152-843ED22DBF59}"/>
              </a:ext>
            </a:extLst>
          </p:cNvPr>
          <p:cNvSpPr/>
          <p:nvPr/>
        </p:nvSpPr>
        <p:spPr>
          <a:xfrm>
            <a:off x="2953512" y="147904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 — views</a:t>
            </a:r>
            <a:endParaRPr lang="en-US" sz="9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5498D7AB-8365-FD02-CA0F-12F74E7E12BE}"/>
              </a:ext>
            </a:extLst>
          </p:cNvPr>
          <p:cNvSpPr/>
          <p:nvPr/>
        </p:nvSpPr>
        <p:spPr>
          <a:xfrm>
            <a:off x="2514600" y="1899666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Nettoyage &amp; structuration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Déduplication USER_ID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UNPIVOT données INSEE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Normalisation des colonnes</a:t>
            </a:r>
            <a:endParaRPr lang="en-US" sz="11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83B5DD1F-EFA9-2167-81BA-E4361955EDA3}"/>
              </a:ext>
            </a:extLst>
          </p:cNvPr>
          <p:cNvSpPr/>
          <p:nvPr/>
        </p:nvSpPr>
        <p:spPr>
          <a:xfrm>
            <a:off x="4453128" y="2695194"/>
            <a:ext cx="128016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B294A7E-90D4-9A79-D9DA-442FF5EB8C9F}"/>
              </a:ext>
            </a:extLst>
          </p:cNvPr>
          <p:cNvSpPr/>
          <p:nvPr/>
        </p:nvSpPr>
        <p:spPr>
          <a:xfrm>
            <a:off x="4526280" y="2603754"/>
            <a:ext cx="91440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88BFCE27-3758-8504-857A-6DFFC6BC0EFF}"/>
              </a:ext>
            </a:extLst>
          </p:cNvPr>
          <p:cNvSpPr/>
          <p:nvPr/>
        </p:nvSpPr>
        <p:spPr>
          <a:xfrm>
            <a:off x="4581144" y="1094994"/>
            <a:ext cx="2011680" cy="356616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950B9810-30DA-53C3-5E33-6AE8EC70C5BC}"/>
              </a:ext>
            </a:extLst>
          </p:cNvPr>
          <p:cNvSpPr/>
          <p:nvPr/>
        </p:nvSpPr>
        <p:spPr>
          <a:xfrm>
            <a:off x="4581144" y="1094994"/>
            <a:ext cx="2011680" cy="6858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EF78BD4B-3A94-B989-B29F-5F5964FD23AD}"/>
              </a:ext>
            </a:extLst>
          </p:cNvPr>
          <p:cNvSpPr/>
          <p:nvPr/>
        </p:nvSpPr>
        <p:spPr>
          <a:xfrm>
            <a:off x="4654296" y="118643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6EADC40B-F45C-7656-C25B-4DB1F486628A}"/>
              </a:ext>
            </a:extLst>
          </p:cNvPr>
          <p:cNvSpPr/>
          <p:nvPr/>
        </p:nvSpPr>
        <p:spPr>
          <a:xfrm>
            <a:off x="5129784" y="114071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CD8D310D-B096-8CA7-3859-DA8A89D6858A}"/>
              </a:ext>
            </a:extLst>
          </p:cNvPr>
          <p:cNvSpPr/>
          <p:nvPr/>
        </p:nvSpPr>
        <p:spPr>
          <a:xfrm>
            <a:off x="5129784" y="147904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 — views</a:t>
            </a:r>
            <a:endParaRPr lang="en-US" sz="9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49CF82AF-AE93-5930-D9B8-929C5EFBBB52}"/>
              </a:ext>
            </a:extLst>
          </p:cNvPr>
          <p:cNvSpPr/>
          <p:nvPr/>
        </p:nvSpPr>
        <p:spPr>
          <a:xfrm>
            <a:off x="4690872" y="1899666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Préparation des jointures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Correction encodage régions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Normalisation genre &amp; âge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Agrégation par segment</a:t>
            </a:r>
            <a:endParaRPr lang="en-US" sz="1100" dirty="0"/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5161EEB0-E417-E897-2703-A9B0CB2DA2E7}"/>
              </a:ext>
            </a:extLst>
          </p:cNvPr>
          <p:cNvSpPr/>
          <p:nvPr/>
        </p:nvSpPr>
        <p:spPr>
          <a:xfrm>
            <a:off x="6629400" y="2695194"/>
            <a:ext cx="128016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AAC5C22B-F9AE-E764-EAB1-03B59573A4BF}"/>
              </a:ext>
            </a:extLst>
          </p:cNvPr>
          <p:cNvSpPr/>
          <p:nvPr/>
        </p:nvSpPr>
        <p:spPr>
          <a:xfrm>
            <a:off x="6702552" y="2603754"/>
            <a:ext cx="91440" cy="1828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EF0C9F57-049D-45FF-9D73-F4663E01DBB5}"/>
              </a:ext>
            </a:extLst>
          </p:cNvPr>
          <p:cNvSpPr/>
          <p:nvPr/>
        </p:nvSpPr>
        <p:spPr>
          <a:xfrm>
            <a:off x="6757416" y="1094994"/>
            <a:ext cx="2011680" cy="3566160"/>
          </a:xfrm>
          <a:prstGeom prst="rect">
            <a:avLst/>
          </a:prstGeom>
          <a:solidFill>
            <a:srgbClr val="252E3A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9489EC5B-1519-1085-BE3A-AC0999604A1D}"/>
              </a:ext>
            </a:extLst>
          </p:cNvPr>
          <p:cNvSpPr/>
          <p:nvPr/>
        </p:nvSpPr>
        <p:spPr>
          <a:xfrm>
            <a:off x="6757416" y="1094994"/>
            <a:ext cx="2011680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FE09F125-38AB-670B-262A-969D3E797644}"/>
              </a:ext>
            </a:extLst>
          </p:cNvPr>
          <p:cNvSpPr/>
          <p:nvPr/>
        </p:nvSpPr>
        <p:spPr>
          <a:xfrm>
            <a:off x="6830568" y="118643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F32861CC-8AF3-A5BB-E7EB-BA6EE53169D7}"/>
              </a:ext>
            </a:extLst>
          </p:cNvPr>
          <p:cNvSpPr/>
          <p:nvPr/>
        </p:nvSpPr>
        <p:spPr>
          <a:xfrm>
            <a:off x="7306056" y="114071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Marts</a:t>
            </a:r>
            <a:endParaRPr lang="en-US" sz="1300" dirty="0"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75318452-618D-FF0A-0284-27A9477E51E7}"/>
              </a:ext>
            </a:extLst>
          </p:cNvPr>
          <p:cNvSpPr/>
          <p:nvPr/>
        </p:nvSpPr>
        <p:spPr>
          <a:xfrm>
            <a:off x="7306056" y="147904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 — tables</a:t>
            </a:r>
            <a:endParaRPr lang="en-US" sz="90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11C8E1E5-AED9-A592-F764-2C0E40B4D988}"/>
              </a:ext>
            </a:extLst>
          </p:cNvPr>
          <p:cNvSpPr/>
          <p:nvPr/>
        </p:nvSpPr>
        <p:spPr>
          <a:xfrm>
            <a:off x="6867144" y="1899666"/>
            <a:ext cx="1810512" cy="26060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 analytiques finales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Joint OC + INSEE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Taux &amp; indicateurs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Export CSV prêt à l'analyse</a:t>
            </a:r>
            <a:endParaRPr lang="en-US" sz="1100" dirty="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8D7D4B50-E5F0-210A-4046-E043B89ED110}"/>
              </a:ext>
            </a:extLst>
          </p:cNvPr>
          <p:cNvSpPr/>
          <p:nvPr/>
        </p:nvSpPr>
        <p:spPr>
          <a:xfrm>
            <a:off x="228600" y="4752594"/>
            <a:ext cx="8686800" cy="201168"/>
          </a:xfrm>
          <a:prstGeom prst="rect">
            <a:avLst/>
          </a:prstGeom>
          <a:solidFill>
            <a:srgbClr val="252E3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A761B8E0-B20E-19DF-E9CD-45321A00CEE2}"/>
              </a:ext>
            </a:extLst>
          </p:cNvPr>
          <p:cNvSpPr/>
          <p:nvPr/>
        </p:nvSpPr>
        <p:spPr>
          <a:xfrm>
            <a:off x="365760" y="475259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: mart_final_export  →  CSV exporté  →  Analyse &amp; visualisation Snowflake Charts</a:t>
            </a:r>
            <a:endParaRPr lang="en-US" sz="900" dirty="0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2A624EA3-75AE-F233-8B58-D4C30696CAB9}"/>
              </a:ext>
            </a:extLst>
          </p:cNvPr>
          <p:cNvSpPr/>
          <p:nvPr/>
        </p:nvSpPr>
        <p:spPr>
          <a:xfrm>
            <a:off x="0" y="4953762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FE82AD6D-6A7C-8B95-13C4-10908AEBC572}"/>
              </a:ext>
            </a:extLst>
          </p:cNvPr>
          <p:cNvSpPr/>
          <p:nvPr/>
        </p:nvSpPr>
        <p:spPr>
          <a:xfrm>
            <a:off x="274320" y="4953762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111AE8C1-DAD9-9BAB-12AA-17388F187202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150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4462272"/>
            <a:ext cx="8686800" cy="384048"/>
          </a:xfrm>
          <a:prstGeom prst="rect">
            <a:avLst/>
          </a:prstGeom>
          <a:solidFill>
            <a:srgbClr val="252E3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42 / 42 tests dbt   •   not_null   •   unique   •   accepted_values (genre, année, sexe)</a:t>
            </a:r>
            <a:endParaRPr lang="en-US" sz="1000" dirty="0"/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E90D0F90-3396-9624-FC51-CF72CFCD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0" y="848985"/>
            <a:ext cx="8818040" cy="31789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 du RGPD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1572768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4864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5486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Pseudonymisation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USER_ID technique uniquement — aucun nom, prénom ou email dans les données.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114800" cy="1572768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54864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92040" y="1234440"/>
            <a:ext cx="5486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Seules les variables nécessaires à l'analyse sont conservées.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14800" cy="1572768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54864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5486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Agrégation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USER_ID disparaît dès les modèles intermediate. Tables finales = agrégats uniquement.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4114800" cy="1572768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2880360"/>
            <a:ext cx="54864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5486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92040" y="3017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Seuil de confidentialité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Segments à très faibles effectifs potentiellement identifiables — à surveiller avant publication.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5BDC4-1B35-BEA9-64C1-07D0614D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A2E3650-CC28-46C3-2B62-EB7C8911D2EA}"/>
              </a:ext>
            </a:extLst>
          </p:cNvPr>
          <p:cNvSpPr/>
          <p:nvPr/>
        </p:nvSpPr>
        <p:spPr>
          <a:xfrm>
            <a:off x="0" y="-2286"/>
            <a:ext cx="502920" cy="5148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4F010A48-A4B5-ADA5-BC4F-C8F88AA3DF97}"/>
              </a:ext>
            </a:extLst>
          </p:cNvPr>
          <p:cNvSpPr/>
          <p:nvPr/>
        </p:nvSpPr>
        <p:spPr>
          <a:xfrm>
            <a:off x="6858000" y="-2286"/>
            <a:ext cx="2286000" cy="51435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3EABA10E-143B-796F-A659-9B81297CF08B}"/>
              </a:ext>
            </a:extLst>
          </p:cNvPr>
          <p:cNvSpPr/>
          <p:nvPr/>
        </p:nvSpPr>
        <p:spPr>
          <a:xfrm>
            <a:off x="685800" y="1369314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0" b="1" dirty="0">
                <a:solidFill>
                  <a:srgbClr val="25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02.</a:t>
            </a:r>
            <a:endParaRPr lang="en-US" sz="110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47EC4B5-9D61-3B29-980C-84F3BBBFD97A}"/>
              </a:ext>
            </a:extLst>
          </p:cNvPr>
          <p:cNvSpPr/>
          <p:nvPr/>
        </p:nvSpPr>
        <p:spPr>
          <a:xfrm>
            <a:off x="685800" y="310667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</a:t>
            </a:r>
            <a:endParaRPr lang="en-US" sz="28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7286967-B867-07C8-FB19-0546FBBAA946}"/>
              </a:ext>
            </a:extLst>
          </p:cNvPr>
          <p:cNvSpPr/>
          <p:nvPr/>
        </p:nvSpPr>
        <p:spPr>
          <a:xfrm>
            <a:off x="685800" y="370103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err="1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</a:t>
            </a:r>
            <a:endParaRPr lang="en-US" sz="28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69F68A35-96BD-0521-FB90-14E5E3662938}"/>
              </a:ext>
            </a:extLst>
          </p:cNvPr>
          <p:cNvSpPr/>
          <p:nvPr/>
        </p:nvSpPr>
        <p:spPr>
          <a:xfrm>
            <a:off x="685800" y="3015234"/>
            <a:ext cx="32004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B99C83E8-55E4-E51F-485D-31C470FDC1FB}"/>
              </a:ext>
            </a:extLst>
          </p:cNvPr>
          <p:cNvSpPr/>
          <p:nvPr/>
        </p:nvSpPr>
        <p:spPr>
          <a:xfrm>
            <a:off x="6949440" y="1643634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25BC360E-A31B-E67F-14F9-F1656173E3B4}"/>
              </a:ext>
            </a:extLst>
          </p:cNvPr>
          <p:cNvSpPr/>
          <p:nvPr/>
        </p:nvSpPr>
        <p:spPr>
          <a:xfrm>
            <a:off x="0" y="4953762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63E0CCCB-A5E4-01DD-44AE-0FBAEEA2B75B}"/>
              </a:ext>
            </a:extLst>
          </p:cNvPr>
          <p:cNvSpPr/>
          <p:nvPr/>
        </p:nvSpPr>
        <p:spPr>
          <a:xfrm>
            <a:off x="274320" y="4953762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Analyse sociodémographique 2022–2025  •  Mohamed — Data Analyst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11245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L'étudiant OC type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2025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6217920" cy="86868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54864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1536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1956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63% des étudiants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6217920" cy="86868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54864" cy="8686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2679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30–34 ans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3099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 des étudiants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6217920" cy="86868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Île-de-France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 des étudiants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64592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reconversion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professionnelle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– 44 ans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 OC : nombre d'étudiants et genre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E9D94D-163E-40A1-C4CE-BA7F042C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85" y="1453515"/>
            <a:ext cx="4257675" cy="32099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3B71BC2-BB1C-8BE0-9495-D9A7FD475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51213"/>
            <a:ext cx="3695700" cy="3212227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1CE1557E-2B19-A819-B7BF-5DCB852CFBFB}"/>
              </a:ext>
            </a:extLst>
          </p:cNvPr>
          <p:cNvSpPr/>
          <p:nvPr/>
        </p:nvSpPr>
        <p:spPr>
          <a:xfrm>
            <a:off x="274320" y="955151"/>
            <a:ext cx="3695700" cy="406908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Nombre étudiants OC filière data</a:t>
            </a: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857692A0-E0D8-F078-E4B4-EC12DD60C5D1}"/>
              </a:ext>
            </a:extLst>
          </p:cNvPr>
          <p:cNvSpPr/>
          <p:nvPr/>
        </p:nvSpPr>
        <p:spPr>
          <a:xfrm>
            <a:off x="4794884" y="955151"/>
            <a:ext cx="4257675" cy="406908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Pourcentage étudiants OC par genre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 OC : répartition régionale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3BCC635-2969-EEFF-CCF3-EE63099B1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74" y="1175513"/>
            <a:ext cx="7953052" cy="3653887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AB470C03-7C98-DF3F-2955-B3874F3E1856}"/>
              </a:ext>
            </a:extLst>
          </p:cNvPr>
          <p:cNvSpPr/>
          <p:nvPr/>
        </p:nvSpPr>
        <p:spPr>
          <a:xfrm>
            <a:off x="2646045" y="1251516"/>
            <a:ext cx="3851910" cy="321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r>
              <a:rPr lang="fr-FR" dirty="0"/>
              <a:t>Pourcentage d'étudiants OC par région</a:t>
            </a:r>
            <a:endParaRPr lang="fr-FR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 OC : tranches d'âge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42B4AA8-C129-0BBC-B113-47204C33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74" y="1117693"/>
            <a:ext cx="8611251" cy="3711262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FA422EFC-51D3-084B-B26A-6734B2FBAF83}"/>
              </a:ext>
            </a:extLst>
          </p:cNvPr>
          <p:cNvSpPr/>
          <p:nvPr/>
        </p:nvSpPr>
        <p:spPr>
          <a:xfrm>
            <a:off x="2646044" y="1142389"/>
            <a:ext cx="4531995" cy="321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r>
              <a:rPr lang="fr-FR" dirty="0"/>
              <a:t>Pourcentage d'étudiants OC par tranche d’âge</a:t>
            </a:r>
            <a:endParaRPr lang="fr-FR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F7018-CBB4-9F09-3B71-9A132EA7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BE1634D-D4ED-C3A6-8E9C-2FDCE9122B50}"/>
              </a:ext>
            </a:extLst>
          </p:cNvPr>
          <p:cNvSpPr/>
          <p:nvPr/>
        </p:nvSpPr>
        <p:spPr>
          <a:xfrm>
            <a:off x="0" y="-2286"/>
            <a:ext cx="502920" cy="5148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611A650D-0853-A01F-A3D7-3D5C18B9BA53}"/>
              </a:ext>
            </a:extLst>
          </p:cNvPr>
          <p:cNvSpPr/>
          <p:nvPr/>
        </p:nvSpPr>
        <p:spPr>
          <a:xfrm>
            <a:off x="6858000" y="-2286"/>
            <a:ext cx="2286000" cy="51435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E4C35C50-5029-9994-5025-AD40AF2B43A8}"/>
              </a:ext>
            </a:extLst>
          </p:cNvPr>
          <p:cNvSpPr/>
          <p:nvPr/>
        </p:nvSpPr>
        <p:spPr>
          <a:xfrm>
            <a:off x="685800" y="1369314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0" b="1" dirty="0">
                <a:solidFill>
                  <a:srgbClr val="252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03.</a:t>
            </a:r>
            <a:endParaRPr lang="en-US" sz="110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4B3FBC4E-54A4-A008-01ED-44B065E20063}"/>
              </a:ext>
            </a:extLst>
          </p:cNvPr>
          <p:cNvSpPr/>
          <p:nvPr/>
        </p:nvSpPr>
        <p:spPr>
          <a:xfrm>
            <a:off x="685800" y="310667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</a:t>
            </a:r>
            <a:endParaRPr lang="en-US" sz="28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7C9DC822-259F-904A-ED26-171C12AB0731}"/>
              </a:ext>
            </a:extLst>
          </p:cNvPr>
          <p:cNvSpPr/>
          <p:nvPr/>
        </p:nvSpPr>
        <p:spPr>
          <a:xfrm>
            <a:off x="685800" y="370103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National</a:t>
            </a:r>
            <a:endParaRPr lang="en-US" sz="28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04B5B0E5-1A3F-6C3B-CC65-8CBF9626DEC5}"/>
              </a:ext>
            </a:extLst>
          </p:cNvPr>
          <p:cNvSpPr/>
          <p:nvPr/>
        </p:nvSpPr>
        <p:spPr>
          <a:xfrm>
            <a:off x="685800" y="3015234"/>
            <a:ext cx="32004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D362B41A-2956-98E0-2702-2ECC7E24C729}"/>
              </a:ext>
            </a:extLst>
          </p:cNvPr>
          <p:cNvSpPr/>
          <p:nvPr/>
        </p:nvSpPr>
        <p:spPr>
          <a:xfrm>
            <a:off x="6949440" y="1643634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8BB8E2AE-CD6B-8360-3BBC-3B6DD779DF51}"/>
              </a:ext>
            </a:extLst>
          </p:cNvPr>
          <p:cNvSpPr/>
          <p:nvPr/>
        </p:nvSpPr>
        <p:spPr>
          <a:xfrm>
            <a:off x="0" y="4953762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D2EF67A3-4D2B-8D46-D3D8-320D5348D0A9}"/>
              </a:ext>
            </a:extLst>
          </p:cNvPr>
          <p:cNvSpPr/>
          <p:nvPr/>
        </p:nvSpPr>
        <p:spPr>
          <a:xfrm>
            <a:off x="274320" y="4953762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Analyse sociodémographique 2022–2025  •  Mohamed — Data Analyst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5220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 vs National : Genre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Année 2025 — répartition H / F / Non renseigné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4389120"/>
            <a:ext cx="8686800" cy="411480"/>
          </a:xfrm>
          <a:prstGeom prst="rect">
            <a:avLst/>
          </a:prstGeom>
          <a:solidFill>
            <a:srgbClr val="252E3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 2025 : ~63% H — ~30% F   vs   National ~48% H — ~52% F  →  Sous-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représentation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feminine (Genre “Non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renseigné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” absent dans données INSEE)</a:t>
            </a: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F638AE8-935D-0D45-EA2A-EEBA16F7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09" y="909631"/>
            <a:ext cx="5441782" cy="3342329"/>
          </a:xfrm>
          <a:prstGeom prst="rect">
            <a:avLst/>
          </a:prstGeom>
        </p:spPr>
      </p:pic>
      <p:sp>
        <p:nvSpPr>
          <p:cNvPr id="15" name="Shape 1">
            <a:extLst>
              <a:ext uri="{FF2B5EF4-FFF2-40B4-BE49-F238E27FC236}">
                <a16:creationId xmlns:a16="http://schemas.microsoft.com/office/drawing/2014/main" id="{A38070DD-81CD-8E5B-6B0E-50A856BEF9FA}"/>
              </a:ext>
            </a:extLst>
          </p:cNvPr>
          <p:cNvSpPr/>
          <p:nvPr/>
        </p:nvSpPr>
        <p:spPr>
          <a:xfrm>
            <a:off x="2844716" y="909631"/>
            <a:ext cx="3922395" cy="321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fr-FR" sz="1200" dirty="0"/>
              <a:t>Répartition par genre et origine en 2025</a:t>
            </a:r>
            <a:endParaRPr lang="fr-FR" sz="120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 vs National : Région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7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Année 2025 — % étudiants OC vs % population nationale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4389120"/>
            <a:ext cx="8686800" cy="411480"/>
          </a:xfrm>
          <a:prstGeom prst="rect">
            <a:avLst/>
          </a:prstGeom>
          <a:solidFill>
            <a:srgbClr val="252E3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Île-de-France sur-représentée (42% OC vs 18% national)  → 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Potentiel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sous-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exploité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regions (DROM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exclut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car pas de données INSEE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ventilées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CE5A5F7-548D-48B2-3025-BE9CCFDB8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230" y="776350"/>
            <a:ext cx="6435409" cy="3535046"/>
          </a:xfrm>
          <a:prstGeom prst="rect">
            <a:avLst/>
          </a:prstGeom>
        </p:spPr>
      </p:pic>
      <p:sp>
        <p:nvSpPr>
          <p:cNvPr id="15" name="Shape 1">
            <a:extLst>
              <a:ext uri="{FF2B5EF4-FFF2-40B4-BE49-F238E27FC236}">
                <a16:creationId xmlns:a16="http://schemas.microsoft.com/office/drawing/2014/main" id="{828A8E7E-119A-9FE1-C0C7-339AC61BF71D}"/>
              </a:ext>
            </a:extLst>
          </p:cNvPr>
          <p:cNvSpPr/>
          <p:nvPr/>
        </p:nvSpPr>
        <p:spPr>
          <a:xfrm>
            <a:off x="2974496" y="832104"/>
            <a:ext cx="3922395" cy="321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fr-FR" sz="1200" dirty="0"/>
              <a:t>Répartition par région des étudiants OC vs la France en 2025</a:t>
            </a:r>
            <a:endParaRPr lang="fr-FR" sz="1200" dirty="0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 vs National : Tranches d'âge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7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 active INSEE — 2022-2025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4389120"/>
            <a:ext cx="8686800" cy="411480"/>
          </a:xfrm>
          <a:prstGeom prst="rect">
            <a:avLst/>
          </a:prstGeom>
          <a:solidFill>
            <a:srgbClr val="252E3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Limite : INSEE = population active 20-60+ ans (pas </a:t>
            </a:r>
            <a:r>
              <a:rPr lang="en-US" sz="1000" dirty="0" err="1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forcément</a:t>
            </a:r>
            <a:r>
              <a:rPr lang="en-US" sz="1000" dirty="0">
                <a:solidFill>
                  <a:srgbClr val="FED7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étudiants classiques). Illustre le profil reconversion d'OC.</a:t>
            </a: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3E6E2F2-F47D-C82F-B6EB-BB36838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69556"/>
            <a:ext cx="6278880" cy="3447976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ADB501EA-5F6B-E45E-065D-E218B7EC1B5E}"/>
              </a:ext>
            </a:extLst>
          </p:cNvPr>
          <p:cNvSpPr/>
          <p:nvPr/>
        </p:nvSpPr>
        <p:spPr>
          <a:xfrm>
            <a:off x="6675120" y="866394"/>
            <a:ext cx="2240280" cy="105156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10A60FA-6600-02DB-DD6B-2B01387E6FCC}"/>
              </a:ext>
            </a:extLst>
          </p:cNvPr>
          <p:cNvSpPr/>
          <p:nvPr/>
        </p:nvSpPr>
        <p:spPr>
          <a:xfrm>
            <a:off x="6675120" y="866394"/>
            <a:ext cx="22402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5DF7565-FE33-C2C3-BF62-F5D0007165DB}"/>
              </a:ext>
            </a:extLst>
          </p:cNvPr>
          <p:cNvSpPr/>
          <p:nvPr/>
        </p:nvSpPr>
        <p:spPr>
          <a:xfrm>
            <a:off x="6675120" y="93954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×3,2</a:t>
            </a:r>
            <a:endParaRPr lang="en-US" sz="20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5EBD3A4-0830-6CBF-E0AB-1C654A573420}"/>
              </a:ext>
            </a:extLst>
          </p:cNvPr>
          <p:cNvSpPr/>
          <p:nvPr/>
        </p:nvSpPr>
        <p:spPr>
          <a:xfrm>
            <a:off x="7315200" y="95783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30-34 ans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29BBBC7-C8AF-5592-5DEC-8CC306786AC2}"/>
              </a:ext>
            </a:extLst>
          </p:cNvPr>
          <p:cNvSpPr/>
          <p:nvPr/>
        </p:nvSpPr>
        <p:spPr>
          <a:xfrm>
            <a:off x="7315200" y="1213866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 chez OC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7,8% national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Cœur de cible reconversion</a:t>
            </a:r>
            <a:endParaRPr lang="en-US" sz="9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2DC73AF6-6FB5-BEC2-5A9A-152BC80130A8}"/>
              </a:ext>
            </a:extLst>
          </p:cNvPr>
          <p:cNvSpPr/>
          <p:nvPr/>
        </p:nvSpPr>
        <p:spPr>
          <a:xfrm>
            <a:off x="6675120" y="2055114"/>
            <a:ext cx="2240280" cy="105156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4B5A6FC8-5972-03E9-4DC3-D39CDD96C895}"/>
              </a:ext>
            </a:extLst>
          </p:cNvPr>
          <p:cNvSpPr/>
          <p:nvPr/>
        </p:nvSpPr>
        <p:spPr>
          <a:xfrm>
            <a:off x="6675120" y="2055114"/>
            <a:ext cx="224028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8B5B1539-093A-DB3D-25A4-7C1FBA86532C}"/>
              </a:ext>
            </a:extLst>
          </p:cNvPr>
          <p:cNvSpPr/>
          <p:nvPr/>
        </p:nvSpPr>
        <p:spPr>
          <a:xfrm>
            <a:off x="6675120" y="212826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</a:t>
            </a:r>
            <a:endParaRPr lang="en-US" sz="20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7E26D3B9-9880-EDDF-9681-A742B1499D4A}"/>
              </a:ext>
            </a:extLst>
          </p:cNvPr>
          <p:cNvSpPr/>
          <p:nvPr/>
        </p:nvSpPr>
        <p:spPr>
          <a:xfrm>
            <a:off x="7315200" y="214655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ans ou plus</a:t>
            </a:r>
            <a:endParaRPr lang="en-US" sz="11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7782990-53F9-2B30-3A66-D4D915E40732}"/>
              </a:ext>
            </a:extLst>
          </p:cNvPr>
          <p:cNvSpPr/>
          <p:nvPr/>
        </p:nvSpPr>
        <p:spPr>
          <a:xfrm>
            <a:off x="7315200" y="2402586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36% national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agrégat large INSEE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comparable</a:t>
            </a:r>
            <a:endParaRPr lang="en-US" sz="9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82CB55B6-50E4-FD35-7F76-56EB652BA7BC}"/>
              </a:ext>
            </a:extLst>
          </p:cNvPr>
          <p:cNvSpPr/>
          <p:nvPr/>
        </p:nvSpPr>
        <p:spPr>
          <a:xfrm>
            <a:off x="6675120" y="3243834"/>
            <a:ext cx="2240280" cy="105156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0A93A5AF-565A-DB85-9134-EDEC4E78B22A}"/>
              </a:ext>
            </a:extLst>
          </p:cNvPr>
          <p:cNvSpPr/>
          <p:nvPr/>
        </p:nvSpPr>
        <p:spPr>
          <a:xfrm>
            <a:off x="6675120" y="3243834"/>
            <a:ext cx="22402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D804D347-C889-5BD4-FDED-79ED1E524704}"/>
              </a:ext>
            </a:extLst>
          </p:cNvPr>
          <p:cNvSpPr/>
          <p:nvPr/>
        </p:nvSpPr>
        <p:spPr>
          <a:xfrm>
            <a:off x="6675120" y="331698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↘</a:t>
            </a:r>
            <a:endParaRPr lang="en-US" sz="20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22C2CD44-22C6-8CA8-7F8A-C3AA87C8EF68}"/>
              </a:ext>
            </a:extLst>
          </p:cNvPr>
          <p:cNvSpPr/>
          <p:nvPr/>
        </p:nvSpPr>
        <p:spPr>
          <a:xfrm>
            <a:off x="7315200" y="333527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20-24 ans</a:t>
            </a:r>
            <a:endParaRPr lang="en-US" sz="11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3C4D0DF5-CC7F-1E9D-FB02-6CEF8FE9A395}"/>
              </a:ext>
            </a:extLst>
          </p:cNvPr>
          <p:cNvSpPr/>
          <p:nvPr/>
        </p:nvSpPr>
        <p:spPr>
          <a:xfrm>
            <a:off x="7315200" y="3591306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5,5% chez OC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 ne capte pas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formation initiale</a:t>
            </a:r>
            <a:endParaRPr lang="en-US" sz="9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C273460A-0141-6229-7527-7DE9D2D7E2F5}"/>
              </a:ext>
            </a:extLst>
          </p:cNvPr>
          <p:cNvSpPr/>
          <p:nvPr/>
        </p:nvSpPr>
        <p:spPr>
          <a:xfrm>
            <a:off x="1722120" y="903301"/>
            <a:ext cx="4617720" cy="321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fr-FR" sz="1200" dirty="0"/>
              <a:t>Répartition par groupe d’âge des étudiants OC par rapport à la France</a:t>
            </a:r>
            <a:endParaRPr lang="fr-FR" sz="1200" dirty="0"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Synthèse des enseignements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160020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Baisse des effectifs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–44% entre 2022 et 2024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Légère reprise en 2025 (+12%)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148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Féminisation croissante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 en 2022 → 31% en 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Parité non encore atteinte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114800" cy="160020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411480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 en IDF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 OC vs 27% national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Régions sous-représentées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98648"/>
            <a:ext cx="4114800" cy="1600200"/>
          </a:xfrm>
          <a:prstGeom prst="rect">
            <a:avLst/>
          </a:prstGeom>
          <a:solidFill>
            <a:srgbClr val="252E3A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898648"/>
            <a:ext cx="41148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reconversion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30–34 ans dominant (~25%)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des étudiants classiques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2E3A"/>
          </a:solidFill>
          <a:ln w="12700">
            <a:solidFill>
              <a:srgbClr val="252E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82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Synthèse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et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Recommandations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6583680" cy="100584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02920" y="1335024"/>
            <a:ext cx="5029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13350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0972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 OC vs 27% national</a:t>
            </a:r>
            <a:endParaRPr lang="en-US" sz="1200" dirty="0"/>
          </a:p>
          <a:p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Régions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sous-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représentées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CBD5E1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Renforcer</a:t>
            </a: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le recrutement hors Île-de-France en valorisant les atouts de la formation à distance auprès des régions sous-représentées.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6583680" cy="100584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2920" y="2567706"/>
            <a:ext cx="5029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56770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3317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2022 → 31%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2025</a:t>
            </a:r>
            <a:endParaRPr lang="en-US" sz="1200" dirty="0"/>
          </a:p>
          <a:p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Parité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non encore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atteinte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CBD5E1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Tendre</a:t>
            </a: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vers la parité en renforçant les actions de communication et de recrutement auprès des femmes dans les filières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6583680" cy="1005840"/>
          </a:xfrm>
          <a:prstGeom prst="rect">
            <a:avLst/>
          </a:prstGeom>
          <a:solidFill>
            <a:srgbClr val="252E3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54864" cy="10058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920" y="3770142"/>
            <a:ext cx="50292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377014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56616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30–34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dominant (~25%)</a:t>
            </a:r>
            <a:endParaRPr lang="en-US" sz="1200" dirty="0"/>
          </a:p>
          <a:p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des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étudiants</a:t>
            </a: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classiques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CBD5E1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Élargir</a:t>
            </a: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le recrutement vers des profils en formation initiale (20–24 ans), en complément du public en reconversion déjà majoritaire.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137160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tous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760470" y="0"/>
            <a:ext cx="1623060" cy="4956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1208-E32C-9049-9ACE-B96F88F6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5EDD02-4905-3822-83BD-4C6AE8D2D70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CD9A1E-B9F2-3102-C34E-2E83332B3630}"/>
              </a:ext>
            </a:extLst>
          </p:cNvPr>
          <p:cNvSpPr/>
          <p:nvPr/>
        </p:nvSpPr>
        <p:spPr>
          <a:xfrm>
            <a:off x="0" y="0"/>
            <a:ext cx="9144000" cy="4956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endParaRPr lang="en-US" sz="4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7D7A64-615A-BF00-5CBD-958D0D0205DE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EB4BAC-4717-DA17-164F-B58C89796122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D0DDE0-16A4-8317-0238-CA26823F44C3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517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E3814-7AF7-8A2A-374F-EB797040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35E4FD-FAC9-78B7-D63D-401E3D422CE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727EBA-A9D4-A720-BDF0-0A0BB32820B8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Requêtes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SQL sur les données OC (1/2)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1A73E0-3D30-71CC-92E5-E754234513E8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487243-7170-F840-7EB4-59600E6E5AC9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DB2755-40A8-88EC-0F33-7127F89425C2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900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DDA0A754-EFCA-2E26-4A98-A0055F31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91554"/>
            <a:ext cx="3665220" cy="198899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8F1DC43-E89F-FCC1-1B36-FE7A4554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1363875"/>
            <a:ext cx="4869180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29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77B32-6FB3-9712-8E9E-5B9C752D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BD4104-C896-F4DC-841A-24F5374A689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75EDEB-2079-B341-FAB0-21038B16A51A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Requêtes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SQL sur les données OC (2/2)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B644CC-3EE2-D28A-B613-0EFC10D02AD5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34EA24-D626-CB4F-6DA0-571EC7713F5F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9BD3F5-ADF7-0CD5-4008-D21FCBD0038A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9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9FF895E-AC98-468C-ACB7-5FBED2B3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24" y="1914065"/>
            <a:ext cx="3139712" cy="181371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05C1DC0-95C9-A8EB-25EF-F2C23C50C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624" y="1822617"/>
            <a:ext cx="3596952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58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5FFDF-8211-E2E9-1CB5-D0C7E904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D4397F-20EE-8C06-8E49-4156F17884B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F41B33-884D-18D2-D6A3-68B76C072852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Requêtes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SQL sur les données OC VS National (genre)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07CB10-1725-B9F0-1E65-C58F54929006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2E83D5-42F9-64BB-0D70-035223602FBE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C258F8-8A0E-D9BE-11B3-DD8D2A6BD921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9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960A6D0-BEB6-3088-AF7E-BF5E1166B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46613"/>
            <a:ext cx="4518904" cy="373513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04B1D97-017A-01A8-1B23-760B8384B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74397"/>
            <a:ext cx="4458052" cy="246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93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50E3C-8A94-1BA1-C2BE-C271ECA2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35403F-9CBD-8606-0AB7-4774E3E43BF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D00127-1A8D-FEDB-3F48-FF832733DAC5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Requêtes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SQL sur les données OC VS National (region)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98DD93-BD9A-59AF-20BA-C9A6409F5B5B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685CC0-383F-8A7F-9626-FDEAD4292B8D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1193A3-5845-E6A5-DB5D-BF5AB469B898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9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4E6BA42-0554-A113-E128-97BC92D1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6387"/>
            <a:ext cx="4610500" cy="41304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3B27502-363A-DEA4-02C1-B5933F588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099" y="1226698"/>
            <a:ext cx="3939541" cy="326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79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FB53F-A219-7365-6805-CB42CD0C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E8621D-9650-85E4-0998-5BB80DFA92F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EB4F09-C259-77F7-0578-38F6A0E528C5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Requêtes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SQL sur les données OC VS National (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âge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775240-6C72-5350-C20B-6474C7C3F0C2}"/>
              </a:ext>
            </a:extLst>
          </p:cNvPr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03EA99-64E7-EE71-B791-D023D071C139}"/>
              </a:ext>
            </a:extLst>
          </p:cNvPr>
          <p:cNvSpPr/>
          <p:nvPr/>
        </p:nvSpPr>
        <p:spPr>
          <a:xfrm>
            <a:off x="274320" y="495604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OpenClassrooms  • 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D409E1-ABE7-906F-6F99-73E0FA74C8A2}"/>
              </a:ext>
            </a:extLst>
          </p:cNvPr>
          <p:cNvSpPr/>
          <p:nvPr/>
        </p:nvSpPr>
        <p:spPr>
          <a:xfrm>
            <a:off x="8686800" y="4956048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A6</a:t>
            </a:r>
            <a:endParaRPr lang="en-US" sz="9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8BB816-4A3E-F377-A469-6EC958626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53" y="850144"/>
            <a:ext cx="6401093" cy="39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5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996</Words>
  <Application>Microsoft Office PowerPoint</Application>
  <PresentationFormat>Affichage à l'écran (16:9)</PresentationFormat>
  <Paragraphs>244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Profils sociodémographiques des étudiants Data OC</dc:title>
  <dc:subject>PptxGenJS Presentation</dc:subject>
  <dc:creator>PptxGenJS</dc:creator>
  <cp:lastModifiedBy>ZAIDI Mohamed Hichem OW/FINANCE</cp:lastModifiedBy>
  <cp:revision>97</cp:revision>
  <dcterms:created xsi:type="dcterms:W3CDTF">2026-04-14T09:46:47Z</dcterms:created>
  <dcterms:modified xsi:type="dcterms:W3CDTF">2026-04-15T11:24:15Z</dcterms:modified>
</cp:coreProperties>
</file>